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71" r:id="rId2"/>
    <p:sldId id="410" r:id="rId3"/>
    <p:sldId id="408" r:id="rId4"/>
    <p:sldId id="413" r:id="rId5"/>
    <p:sldId id="421" r:id="rId6"/>
    <p:sldId id="412" r:id="rId7"/>
    <p:sldId id="414" r:id="rId8"/>
    <p:sldId id="416" r:id="rId9"/>
    <p:sldId id="417" r:id="rId10"/>
    <p:sldId id="418" r:id="rId11"/>
    <p:sldId id="420" r:id="rId12"/>
    <p:sldId id="419" r:id="rId13"/>
    <p:sldId id="422" r:id="rId14"/>
    <p:sldId id="423" r:id="rId15"/>
    <p:sldId id="424" r:id="rId16"/>
    <p:sldId id="425" r:id="rId17"/>
    <p:sldId id="426" r:id="rId18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F5F5F5"/>
    <a:srgbClr val="D3D3D3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9" autoAdjust="0"/>
    <p:restoredTop sz="93629" autoAdjust="0"/>
  </p:normalViewPr>
  <p:slideViewPr>
    <p:cSldViewPr snapToGrid="0">
      <p:cViewPr>
        <p:scale>
          <a:sx n="75" d="100"/>
          <a:sy n="75" d="100"/>
        </p:scale>
        <p:origin x="954" y="5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EBD42C2-BACD-482F-830C-6F0C96C48249}" type="datetimeFigureOut">
              <a:rPr lang="en-US" smtClean="0"/>
              <a:pPr/>
              <a:t>2/13/2020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9DC0E25-A704-4F85-B45D-D13410BA5F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8946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A3F69A8E-1191-4809-9C4B-278D60FF5E4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11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EEE53B-BD58-4A10-81D1-A61A9CD5D3A8}" type="slidenum">
              <a:rPr lang="en-US"/>
              <a:pPr/>
              <a:t>1</a:t>
            </a:fld>
            <a:endParaRPr lang="en-US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442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EEE53B-BD58-4A10-81D1-A61A9CD5D3A8}" type="slidenum">
              <a:rPr lang="en-US"/>
              <a:pPr/>
              <a:t>2</a:t>
            </a:fld>
            <a:endParaRPr lang="en-US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20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 descr="USC_Stan_Pos_202_logo_only_clear_bkgd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049338" y="0"/>
            <a:ext cx="1094662" cy="1261872"/>
          </a:xfrm>
          <a:prstGeom prst="rect">
            <a:avLst/>
          </a:prstGeom>
        </p:spPr>
      </p:pic>
      <p:sp>
        <p:nvSpPr>
          <p:cNvPr id="5" name="Line 10"/>
          <p:cNvSpPr>
            <a:spLocks noChangeShapeType="1"/>
          </p:cNvSpPr>
          <p:nvPr userDrawn="1"/>
        </p:nvSpPr>
        <p:spPr bwMode="auto">
          <a:xfrm>
            <a:off x="292608" y="1237488"/>
            <a:ext cx="7488936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371601"/>
            <a:ext cx="4195636" cy="603504"/>
          </a:xfrm>
        </p:spPr>
        <p:txBody>
          <a:bodyPr anchor="b"/>
          <a:lstStyle>
            <a:lvl1pPr marL="0" indent="0">
              <a:buNone/>
              <a:defRPr sz="1800" b="1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2608" y="1993392"/>
            <a:ext cx="4204780" cy="4132771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362457"/>
            <a:ext cx="4041775" cy="630936"/>
          </a:xfrm>
        </p:spPr>
        <p:txBody>
          <a:bodyPr anchor="b"/>
          <a:lstStyle>
            <a:lvl1pPr marL="0" indent="0">
              <a:buNone/>
              <a:defRPr sz="1800" b="1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93392"/>
            <a:ext cx="4041775" cy="4132771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1" y="228600"/>
            <a:ext cx="7120128" cy="5762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 descr="USC_Stan_Pos_202_logo_only_clear_bkgd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049338" y="0"/>
            <a:ext cx="1094662" cy="1261872"/>
          </a:xfrm>
          <a:prstGeom prst="rect">
            <a:avLst/>
          </a:prstGeom>
        </p:spPr>
      </p:pic>
      <p:sp>
        <p:nvSpPr>
          <p:cNvPr id="9" name="Line 10"/>
          <p:cNvSpPr>
            <a:spLocks noChangeShapeType="1"/>
          </p:cNvSpPr>
          <p:nvPr userDrawn="1"/>
        </p:nvSpPr>
        <p:spPr bwMode="auto">
          <a:xfrm>
            <a:off x="292608" y="1237488"/>
            <a:ext cx="7488936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USC_Stan_Pos_202_logo_only_clear_bkgd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049338" y="0"/>
            <a:ext cx="1094662" cy="1261872"/>
          </a:xfrm>
          <a:prstGeom prst="rect">
            <a:avLst/>
          </a:prstGeom>
        </p:spPr>
      </p:pic>
      <p:sp>
        <p:nvSpPr>
          <p:cNvPr id="4" name="Line 10"/>
          <p:cNvSpPr>
            <a:spLocks noChangeShapeType="1"/>
          </p:cNvSpPr>
          <p:nvPr userDrawn="1"/>
        </p:nvSpPr>
        <p:spPr bwMode="auto">
          <a:xfrm>
            <a:off x="292608" y="1237488"/>
            <a:ext cx="7488936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335963" cy="5762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4541838" y="1371600"/>
            <a:ext cx="4108450" cy="484663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82575" y="1380744"/>
            <a:ext cx="4152265" cy="48374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 descr="USC_Stan_Pos_202_logo_only_clear_bkgd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049338" y="0"/>
            <a:ext cx="1094662" cy="1261872"/>
          </a:xfrm>
          <a:prstGeom prst="rect">
            <a:avLst/>
          </a:prstGeom>
        </p:spPr>
      </p:pic>
      <p:sp>
        <p:nvSpPr>
          <p:cNvPr id="7" name="Line 10"/>
          <p:cNvSpPr>
            <a:spLocks noChangeShapeType="1"/>
          </p:cNvSpPr>
          <p:nvPr userDrawn="1"/>
        </p:nvSpPr>
        <p:spPr bwMode="auto">
          <a:xfrm>
            <a:off x="292608" y="1237488"/>
            <a:ext cx="7488936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1" y="228600"/>
            <a:ext cx="7120128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4" name="Line 10"/>
          <p:cNvSpPr>
            <a:spLocks noChangeShapeType="1"/>
          </p:cNvSpPr>
          <p:nvPr userDrawn="1"/>
        </p:nvSpPr>
        <p:spPr bwMode="auto">
          <a:xfrm>
            <a:off x="304800" y="6324600"/>
            <a:ext cx="83820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6" name="Text Box 12"/>
          <p:cNvSpPr txBox="1">
            <a:spLocks noChangeArrowheads="1"/>
          </p:cNvSpPr>
          <p:nvPr userDrawn="1"/>
        </p:nvSpPr>
        <p:spPr bwMode="auto">
          <a:xfrm>
            <a:off x="955675" y="564038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sz="2400"/>
          </a:p>
        </p:txBody>
      </p:sp>
      <p:sp>
        <p:nvSpPr>
          <p:cNvPr id="1037" name="Text Box 13"/>
          <p:cNvSpPr txBox="1">
            <a:spLocks noChangeArrowheads="1"/>
          </p:cNvSpPr>
          <p:nvPr userDrawn="1"/>
        </p:nvSpPr>
        <p:spPr bwMode="auto">
          <a:xfrm>
            <a:off x="212725" y="6457950"/>
            <a:ext cx="16732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/>
              <a:t>Andrew B. </a:t>
            </a:r>
            <a:r>
              <a:rPr lang="en-US" sz="1400" dirty="0" err="1"/>
              <a:t>Greytak</a:t>
            </a:r>
            <a:endParaRPr lang="en-US" sz="1400" dirty="0"/>
          </a:p>
        </p:txBody>
      </p:sp>
      <p:sp>
        <p:nvSpPr>
          <p:cNvPr id="1038" name="Text Box 14"/>
          <p:cNvSpPr txBox="1">
            <a:spLocks noChangeArrowheads="1"/>
          </p:cNvSpPr>
          <p:nvPr userDrawn="1"/>
        </p:nvSpPr>
        <p:spPr bwMode="auto">
          <a:xfrm>
            <a:off x="2621876" y="6457950"/>
            <a:ext cx="355738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400" dirty="0"/>
              <a:t>Chemistry</a:t>
            </a:r>
            <a:r>
              <a:rPr lang="en-US" sz="1400" baseline="0" dirty="0"/>
              <a:t> 749 Spring 2020: Supplement 6</a:t>
            </a:r>
            <a:endParaRPr lang="en-US" sz="1400" dirty="0"/>
          </a:p>
        </p:txBody>
      </p:sp>
      <p:sp>
        <p:nvSpPr>
          <p:cNvPr id="1044" name="Rectangle 2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2575" y="1380744"/>
            <a:ext cx="8367713" cy="4837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8331" rIns="0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 how does this wrap how does this wrap how does this wrap how does this wrap how does this wrap how does this wrap </a:t>
            </a:r>
          </a:p>
          <a:p>
            <a:pPr lvl="1"/>
            <a:r>
              <a:rPr lang="en-US"/>
              <a:t>Second level how does this level wrap how does this level wrap how does this level wrap how does this level wrap how does this level wrap </a:t>
            </a:r>
          </a:p>
          <a:p>
            <a:pPr lvl="2"/>
            <a:r>
              <a:rPr lang="en-US"/>
              <a:t>Third level how does this level wrap how does this level wrap how does this level wrap </a:t>
            </a:r>
          </a:p>
        </p:txBody>
      </p:sp>
      <p:sp>
        <p:nvSpPr>
          <p:cNvPr id="1045" name="Text Box 21"/>
          <p:cNvSpPr txBox="1">
            <a:spLocks noChangeArrowheads="1"/>
          </p:cNvSpPr>
          <p:nvPr userDrawn="1"/>
        </p:nvSpPr>
        <p:spPr bwMode="auto">
          <a:xfrm>
            <a:off x="8407400" y="6456363"/>
            <a:ext cx="4000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2614113F-C714-4D36-9D99-D0E496E2C7EB}" type="slidenum">
              <a:rPr lang="en-US" sz="1400"/>
              <a:pPr/>
              <a:t>‹#›</a:t>
            </a:fld>
            <a:endParaRPr 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5" r:id="rId5"/>
    <p:sldLayoutId id="2147483660" r:id="rId6"/>
  </p:sldLayoutIdLst>
  <p:txStyles>
    <p:titleStyle>
      <a:lvl1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350838" indent="-23653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2pPr>
      <a:lvl3pPr marL="688975" indent="-223838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7" Type="http://schemas.openxmlformats.org/officeDocument/2006/relationships/image" Target="../media/image18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2.png"/><Relationship Id="rId7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8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282575" y="1380744"/>
            <a:ext cx="8367713" cy="322013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Electronic structure of graphene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823" y="4728707"/>
            <a:ext cx="677204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/>
              <a:t>References:</a:t>
            </a:r>
          </a:p>
          <a:p>
            <a:r>
              <a:rPr lang="en-US" sz="1600" dirty="0"/>
              <a:t>Orbital Interactions in Chemistry, </a:t>
            </a:r>
            <a:r>
              <a:rPr lang="en-US" sz="1600" dirty="0" err="1"/>
              <a:t>Chpt</a:t>
            </a:r>
            <a:r>
              <a:rPr lang="en-US" sz="1600" dirty="0"/>
              <a:t>. 13 (in Readings list)</a:t>
            </a:r>
          </a:p>
          <a:p>
            <a:r>
              <a:rPr lang="en-US" sz="1600" dirty="0" err="1"/>
              <a:t>Kuno</a:t>
            </a:r>
            <a:r>
              <a:rPr lang="en-US" sz="1600" dirty="0"/>
              <a:t> </a:t>
            </a:r>
            <a:r>
              <a:rPr lang="en-US" sz="1600" dirty="0" err="1"/>
              <a:t>Chpt</a:t>
            </a:r>
            <a:r>
              <a:rPr lang="en-US" sz="1600" dirty="0"/>
              <a:t>. 10</a:t>
            </a:r>
          </a:p>
          <a:p>
            <a:r>
              <a:rPr lang="en-US" sz="1600" dirty="0"/>
              <a:t>P. R. Wallace, </a:t>
            </a:r>
            <a:r>
              <a:rPr lang="en-US" sz="1600" i="1" dirty="0"/>
              <a:t>Phys. Rev.</a:t>
            </a:r>
            <a:r>
              <a:rPr lang="en-US" sz="1600" dirty="0"/>
              <a:t> </a:t>
            </a:r>
            <a:r>
              <a:rPr lang="en-US" sz="1600" b="1" dirty="0"/>
              <a:t>1947</a:t>
            </a:r>
            <a:r>
              <a:rPr lang="en-US" sz="1600" dirty="0"/>
              <a:t>, vol. </a:t>
            </a:r>
            <a:r>
              <a:rPr lang="en-US" sz="1600" i="1" dirty="0"/>
              <a:t>71</a:t>
            </a:r>
            <a:r>
              <a:rPr lang="en-US" sz="1600" dirty="0"/>
              <a:t>, p. 662. </a:t>
            </a:r>
          </a:p>
          <a:p>
            <a:r>
              <a:rPr lang="en-US" sz="1600" dirty="0"/>
              <a:t>Castro </a:t>
            </a:r>
            <a:r>
              <a:rPr lang="en-US" sz="1600" dirty="0" err="1"/>
              <a:t>Neto</a:t>
            </a:r>
            <a:r>
              <a:rPr lang="en-US" sz="1600" dirty="0"/>
              <a:t> et al., </a:t>
            </a:r>
            <a:r>
              <a:rPr lang="en-US" sz="1600" i="1" dirty="0"/>
              <a:t>Rev. Mod. Phys. </a:t>
            </a:r>
            <a:r>
              <a:rPr lang="en-US" sz="1600" b="1" dirty="0"/>
              <a:t>2009</a:t>
            </a:r>
            <a:r>
              <a:rPr lang="en-US" sz="1600" dirty="0"/>
              <a:t>, vol. </a:t>
            </a:r>
            <a:r>
              <a:rPr lang="en-US" sz="1600" i="1" dirty="0"/>
              <a:t>81</a:t>
            </a:r>
            <a:r>
              <a:rPr lang="en-US" sz="1600" dirty="0"/>
              <a:t>, p. 109.</a:t>
            </a:r>
          </a:p>
          <a:p>
            <a:r>
              <a:rPr lang="en-US" sz="1600" dirty="0"/>
              <a:t>Nanotubes: T. W. Odom et al., </a:t>
            </a:r>
            <a:r>
              <a:rPr lang="en-US" sz="1600" i="1" dirty="0"/>
              <a:t>J. Phys. Chem. B </a:t>
            </a:r>
            <a:r>
              <a:rPr lang="en-US" sz="1600" b="1" dirty="0"/>
              <a:t>2000</a:t>
            </a:r>
            <a:r>
              <a:rPr lang="en-US" sz="1600" dirty="0"/>
              <a:t>, vol. </a:t>
            </a:r>
            <a:r>
              <a:rPr lang="en-US" sz="1600" i="1" dirty="0"/>
              <a:t>104</a:t>
            </a:r>
            <a:r>
              <a:rPr lang="en-US" sz="1600" dirty="0"/>
              <a:t>, p. 2794.</a:t>
            </a: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3C6D8CB7-9714-4FAA-8E06-DE337E8DEC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37" y="1418853"/>
            <a:ext cx="6979343" cy="33098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282575" y="1380744"/>
            <a:ext cx="8367713" cy="3220132"/>
          </a:xfrm>
        </p:spPr>
        <p:txBody>
          <a:bodyPr/>
          <a:lstStyle/>
          <a:p>
            <a:r>
              <a:rPr lang="en-US" sz="1600" dirty="0"/>
              <a:t>A good description of most real crystals with tight binding requires:</a:t>
            </a:r>
          </a:p>
          <a:p>
            <a:pPr lvl="1"/>
            <a:r>
              <a:rPr lang="en-US" sz="1600" dirty="0"/>
              <a:t>Extension to 2 or 3 dimensions</a:t>
            </a:r>
          </a:p>
          <a:p>
            <a:pPr lvl="1"/>
            <a:r>
              <a:rPr lang="en-US" sz="1600" dirty="0"/>
              <a:t>Inclusion of overlap terms (</a:t>
            </a:r>
            <a:r>
              <a:rPr lang="en-US" sz="1600" i="1" dirty="0"/>
              <a:t>S</a:t>
            </a:r>
            <a:r>
              <a:rPr lang="en-US" sz="1600" dirty="0"/>
              <a:t>)</a:t>
            </a:r>
          </a:p>
          <a:p>
            <a:pPr lvl="1"/>
            <a:r>
              <a:rPr lang="en-US" sz="1600" b="1" dirty="0"/>
              <a:t>A multi-orbital basis </a:t>
            </a:r>
            <a:r>
              <a:rPr lang="en-US" sz="1600" dirty="0"/>
              <a:t>(multiple atoms and/or multiple atomic orbitals per </a:t>
            </a:r>
            <a:r>
              <a:rPr lang="en-US" sz="1600" dirty="0" err="1"/>
              <a:t>Bravais</a:t>
            </a:r>
            <a:r>
              <a:rPr lang="en-US" sz="1600" dirty="0"/>
              <a:t> lattice site)</a:t>
            </a:r>
          </a:p>
          <a:p>
            <a:pPr lvl="1"/>
            <a:endParaRPr lang="en-US" sz="1600" dirty="0"/>
          </a:p>
          <a:p>
            <a:r>
              <a:rPr lang="en-US" sz="1600" dirty="0"/>
              <a:t>The third of these is the most significant: unless basis orbitals are widely separated in energy, the resulting energy bands will include contributions from multiple atomic orbitals.</a:t>
            </a:r>
          </a:p>
          <a:p>
            <a:endParaRPr lang="en-US" sz="1600" dirty="0"/>
          </a:p>
          <a:p>
            <a:r>
              <a:rPr lang="en-US" sz="1600" dirty="0"/>
              <a:t>The “secular determinant”, a result of the </a:t>
            </a:r>
            <a:r>
              <a:rPr lang="en-US" sz="1600" dirty="0" err="1"/>
              <a:t>variational</a:t>
            </a:r>
            <a:r>
              <a:rPr lang="en-US" sz="1600" dirty="0"/>
              <a:t> theorem of quantum mechanics, can be used to find band structures in terms of a small number of parameters, whose values are determined by calculation or experiment.</a:t>
            </a:r>
          </a:p>
          <a:p>
            <a:endParaRPr lang="en-US" sz="1600" dirty="0"/>
          </a:p>
          <a:p>
            <a:r>
              <a:rPr lang="en-US" sz="1600" dirty="0"/>
              <a:t>We’ll look at the band structure of graphene as an example of how this is done.</a:t>
            </a:r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Electronic structure of graphene </a:t>
            </a:r>
            <a:br>
              <a:rPr lang="en-US" dirty="0"/>
            </a:br>
            <a:r>
              <a:rPr lang="en-US" dirty="0"/>
              <a:t>and carbon nanotubes</a:t>
            </a:r>
          </a:p>
        </p:txBody>
      </p:sp>
    </p:spTree>
    <p:extLst>
      <p:ext uri="{BB962C8B-B14F-4D97-AF65-F5344CB8AC3E}">
        <p14:creationId xmlns:p14="http://schemas.microsoft.com/office/powerpoint/2010/main" val="730508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secular determinant: Estimating molecular orbital energies in LCAO approach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Express molecular orbitals as sum of atomic orbitals, each with an appropriate coefficient: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From the Schrodinger equation, MO energies </a:t>
            </a:r>
            <a:r>
              <a:rPr lang="en-US" sz="1600" i="1" dirty="0" err="1"/>
              <a:t>e</a:t>
            </a:r>
            <a:r>
              <a:rPr lang="en-US" sz="1600" i="1" baseline="-25000" dirty="0" err="1"/>
              <a:t>i</a:t>
            </a:r>
            <a:r>
              <a:rPr lang="en-US" sz="1600" dirty="0"/>
              <a:t> are given by: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The numerator and denominator are sums of integrals between each of the possible atomic orbital pairs: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201" y="1741549"/>
            <a:ext cx="2976802" cy="8947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992" y="3017425"/>
            <a:ext cx="3094517" cy="65743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992" y="4860214"/>
            <a:ext cx="1363127" cy="3402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3066" y="4438228"/>
            <a:ext cx="2007577" cy="4267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47358" y="4819820"/>
            <a:ext cx="1723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(overlap integral)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7833" y="4460002"/>
            <a:ext cx="1997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(interaction integral)</a:t>
            </a:r>
          </a:p>
        </p:txBody>
      </p:sp>
    </p:spTree>
    <p:extLst>
      <p:ext uri="{BB962C8B-B14F-4D97-AF65-F5344CB8AC3E}">
        <p14:creationId xmlns:p14="http://schemas.microsoft.com/office/powerpoint/2010/main" val="2152741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secular determinant: Estimating molecular orbital energies in LCAO approach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u="sng" dirty="0" err="1"/>
              <a:t>Variational</a:t>
            </a:r>
            <a:r>
              <a:rPr lang="en-US" sz="1600" u="sng" dirty="0"/>
              <a:t> result:</a:t>
            </a:r>
          </a:p>
          <a:p>
            <a:r>
              <a:rPr lang="en-US" sz="1600" dirty="0"/>
              <a:t>The coefficients that minimize the </a:t>
            </a:r>
            <a:r>
              <a:rPr lang="en-US" sz="1600" i="1" dirty="0" err="1"/>
              <a:t>e</a:t>
            </a:r>
            <a:r>
              <a:rPr lang="en-US" sz="1600" i="1" baseline="-25000" dirty="0" err="1"/>
              <a:t>i</a:t>
            </a:r>
            <a:r>
              <a:rPr lang="en-US" sz="1600" dirty="0" err="1"/>
              <a:t>’s</a:t>
            </a:r>
            <a:r>
              <a:rPr lang="en-US" sz="1600" dirty="0"/>
              <a:t> are found by solving a system of linear equations: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Because this is a system of </a:t>
            </a:r>
            <a:r>
              <a:rPr lang="en-US" sz="1600" i="1" dirty="0"/>
              <a:t>homogenous</a:t>
            </a:r>
            <a:r>
              <a:rPr lang="en-US" sz="1600" dirty="0"/>
              <a:t> linear equations (RHS = 0), the following determinant must be equal to zero: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“</a:t>
            </a:r>
            <a:r>
              <a:rPr lang="en-US" sz="1600" b="1" dirty="0"/>
              <a:t>secular determinant</a:t>
            </a:r>
            <a:r>
              <a:rPr lang="en-US" sz="1600" dirty="0"/>
              <a:t>” yields a polynomial for </a:t>
            </a:r>
            <a:r>
              <a:rPr lang="en-US" sz="1600" i="1" dirty="0" err="1"/>
              <a:t>e</a:t>
            </a:r>
            <a:r>
              <a:rPr lang="en-US" sz="1600" i="1" baseline="-25000" dirty="0" err="1"/>
              <a:t>i</a:t>
            </a:r>
            <a:r>
              <a:rPr lang="en-US" sz="1600" dirty="0"/>
              <a:t> whose roots give the MO energies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i="1" dirty="0" err="1"/>
              <a:t>S</a:t>
            </a:r>
            <a:r>
              <a:rPr lang="en-US" sz="1600" i="1" baseline="-25000" dirty="0" err="1"/>
              <a:t>mm</a:t>
            </a:r>
            <a:r>
              <a:rPr lang="en-US" sz="1600" dirty="0"/>
              <a:t> = 1, </a:t>
            </a:r>
            <a:r>
              <a:rPr lang="en-US" sz="1600" i="1" dirty="0"/>
              <a:t>H</a:t>
            </a:r>
            <a:r>
              <a:rPr lang="en-US" sz="1600" dirty="0"/>
              <a:t> and </a:t>
            </a:r>
            <a:r>
              <a:rPr lang="en-US" sz="1600" i="1" dirty="0"/>
              <a:t>S</a:t>
            </a:r>
            <a:r>
              <a:rPr lang="en-US" sz="1600" dirty="0"/>
              <a:t> terms between distant atoms will be negligible, and </a:t>
            </a:r>
            <a:r>
              <a:rPr lang="en-US" sz="1600" i="1" dirty="0"/>
              <a:t>H</a:t>
            </a:r>
            <a:r>
              <a:rPr lang="en-US" sz="1600" baseline="-25000" dirty="0"/>
              <a:t>12</a:t>
            </a:r>
            <a:r>
              <a:rPr lang="en-US" sz="1600" dirty="0"/>
              <a:t> = </a:t>
            </a:r>
            <a:r>
              <a:rPr lang="en-US" sz="1600" i="1" dirty="0"/>
              <a:t>H</a:t>
            </a:r>
            <a:r>
              <a:rPr lang="en-US" sz="1600" baseline="-25000" dirty="0"/>
              <a:t>21</a:t>
            </a:r>
            <a:r>
              <a:rPr lang="en-US" sz="1600" dirty="0"/>
              <a:t>*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Coefficients can be worked out once </a:t>
            </a:r>
            <a:r>
              <a:rPr lang="en-US" sz="1600" i="1" dirty="0" err="1"/>
              <a:t>e</a:t>
            </a:r>
            <a:r>
              <a:rPr lang="en-US" sz="1600" i="1" baseline="-25000" dirty="0" err="1"/>
              <a:t>i</a:t>
            </a:r>
            <a:r>
              <a:rPr lang="en-US" sz="1600" dirty="0"/>
              <a:t> are known, but often we’re happy with just </a:t>
            </a:r>
            <a:r>
              <a:rPr lang="en-US" sz="1600" i="1" dirty="0" err="1"/>
              <a:t>e</a:t>
            </a:r>
            <a:r>
              <a:rPr lang="en-US" sz="1600" i="1" baseline="-25000" dirty="0" err="1"/>
              <a:t>i</a:t>
            </a:r>
            <a:r>
              <a:rPr lang="en-US" sz="1600" dirty="0" err="1"/>
              <a:t>’s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sz="1600" u="sng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93" y="2142289"/>
            <a:ext cx="5176216" cy="11062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74023" y="2384250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713" y="2328028"/>
            <a:ext cx="2395575" cy="6644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38" y="4010756"/>
            <a:ext cx="4216784" cy="13292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37840" y="4257179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0650" y="4257179"/>
            <a:ext cx="1799123" cy="50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27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Secular determinant: H</a:t>
            </a:r>
            <a:r>
              <a:rPr lang="en-US" baseline="-25000" dirty="0"/>
              <a:t>2</a:t>
            </a:r>
            <a:r>
              <a:rPr lang="en-US" dirty="0"/>
              <a:t> (or ethylene)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576" y="3339356"/>
            <a:ext cx="3853052" cy="2878881"/>
          </a:xfrm>
        </p:spPr>
        <p:txBody>
          <a:bodyPr/>
          <a:lstStyle/>
          <a:p>
            <a:r>
              <a:rPr lang="en-US" dirty="0"/>
              <a:t>Supposing symmetric case (</a:t>
            </a:r>
            <a:r>
              <a:rPr lang="en-US" i="1" dirty="0"/>
              <a:t>H</a:t>
            </a:r>
            <a:r>
              <a:rPr lang="en-US" baseline="-25000" dirty="0"/>
              <a:t>11</a:t>
            </a:r>
            <a:r>
              <a:rPr lang="en-US" dirty="0"/>
              <a:t>=</a:t>
            </a:r>
            <a:r>
              <a:rPr lang="en-US" i="1" dirty="0"/>
              <a:t>H</a:t>
            </a:r>
            <a:r>
              <a:rPr lang="en-US" baseline="-25000" dirty="0"/>
              <a:t>22</a:t>
            </a:r>
            <a:r>
              <a:rPr lang="en-US" dirty="0"/>
              <a:t>=</a:t>
            </a:r>
            <a:r>
              <a:rPr lang="en-US" i="1" dirty="0"/>
              <a:t>E</a:t>
            </a:r>
            <a:r>
              <a:rPr lang="en-US" baseline="-25000" dirty="0"/>
              <a:t>0</a:t>
            </a:r>
            <a:r>
              <a:rPr lang="en-US" dirty="0"/>
              <a:t>):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82575" y="4212077"/>
                <a:ext cx="1921552" cy="646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75" y="4212077"/>
                <a:ext cx="1921552" cy="6469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2575" y="5241369"/>
                <a:ext cx="1921552" cy="646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75" y="5241369"/>
                <a:ext cx="1921552" cy="6469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60" y="1943069"/>
            <a:ext cx="3532429" cy="299251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924145" y="4212077"/>
            <a:ext cx="5155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924145" y="2574588"/>
            <a:ext cx="5155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924145" y="2371124"/>
            <a:ext cx="5155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924145" y="4070221"/>
            <a:ext cx="5155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17123" y="2101174"/>
            <a:ext cx="473414" cy="4734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967420" y="2101174"/>
            <a:ext cx="473414" cy="47341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53830" y="2337881"/>
            <a:ext cx="1150297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915056" y="2571594"/>
                <a:ext cx="32829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56" y="2571594"/>
                <a:ext cx="328295" cy="307777"/>
              </a:xfrm>
              <a:prstGeom prst="rect">
                <a:avLst/>
              </a:prstGeom>
              <a:blipFill>
                <a:blip r:embed="rId5"/>
                <a:stretch>
                  <a:fillRect l="-14815" r="-3704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077702" y="2566377"/>
                <a:ext cx="3342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702" y="2566377"/>
                <a:ext cx="334258" cy="307777"/>
              </a:xfrm>
              <a:prstGeom prst="rect">
                <a:avLst/>
              </a:prstGeom>
              <a:blipFill>
                <a:blip r:embed="rId6"/>
                <a:stretch>
                  <a:fillRect l="-16364" r="-3636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 rot="16200000">
            <a:off x="3682620" y="3139300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</a:t>
            </a:r>
            <a:r>
              <a:rPr lang="en-US" dirty="0"/>
              <a:t> – </a:t>
            </a:r>
            <a:r>
              <a:rPr lang="en-US" i="1" dirty="0"/>
              <a:t>E</a:t>
            </a:r>
            <a:r>
              <a:rPr lang="en-US" baseline="-25000" dirty="0"/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543" y="3939702"/>
            <a:ext cx="450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</a:t>
            </a:r>
            <a:r>
              <a:rPr lang="en-US" baseline="-25000" dirty="0"/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543" y="2304759"/>
            <a:ext cx="450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</a:t>
            </a:r>
            <a:r>
              <a:rPr lang="en-US" baseline="-25000" dirty="0"/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624" y="5564823"/>
            <a:ext cx="4192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i="1" dirty="0"/>
              <a:t>S</a:t>
            </a:r>
            <a:r>
              <a:rPr lang="en-US" sz="1600" dirty="0"/>
              <a:t> generally has opposite sign from </a:t>
            </a:r>
            <a:r>
              <a:rPr lang="en-US" sz="1600" i="1" dirty="0"/>
              <a:t>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i="1" dirty="0"/>
              <a:t>H</a:t>
            </a:r>
            <a:r>
              <a:rPr lang="en-US" sz="1600" dirty="0"/>
              <a:t> negative for orbital lobes of same sign</a:t>
            </a:r>
          </a:p>
        </p:txBody>
      </p:sp>
    </p:spTree>
    <p:extLst>
      <p:ext uri="{BB962C8B-B14F-4D97-AF65-F5344CB8AC3E}">
        <p14:creationId xmlns:p14="http://schemas.microsoft.com/office/powerpoint/2010/main" val="174501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secular determinant in a periodic lattice: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In a crystal, we take the same </a:t>
            </a:r>
            <a:r>
              <a:rPr lang="en-US" sz="1600" dirty="0" err="1"/>
              <a:t>variational</a:t>
            </a:r>
            <a:r>
              <a:rPr lang="en-US" sz="1600" dirty="0"/>
              <a:t> approach, but starting with a </a:t>
            </a:r>
            <a:r>
              <a:rPr lang="en-US" sz="1600" b="1" dirty="0"/>
              <a:t>Bloch function for each atomic orbital</a:t>
            </a:r>
            <a:r>
              <a:rPr lang="en-US" sz="1600" dirty="0"/>
              <a:t>. </a:t>
            </a:r>
          </a:p>
          <a:p>
            <a:r>
              <a:rPr lang="en-US" sz="1600" dirty="0"/>
              <a:t>For example: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Our job is then to find energies </a:t>
            </a:r>
            <a:r>
              <a:rPr lang="en-US" sz="1600" i="1" dirty="0" err="1"/>
              <a:t>E</a:t>
            </a:r>
            <a:r>
              <a:rPr lang="en-US" sz="1600" i="1" baseline="-25000" dirty="0" err="1"/>
              <a:t>i</a:t>
            </a:r>
            <a:r>
              <a:rPr lang="en-US" sz="1600" dirty="0"/>
              <a:t> for each value of wavevector </a:t>
            </a:r>
            <a:r>
              <a:rPr lang="en-US" sz="1600" b="1" i="1" dirty="0"/>
              <a:t>k</a:t>
            </a:r>
            <a:r>
              <a:rPr lang="en-US" sz="1600" dirty="0"/>
              <a:t> using a </a:t>
            </a:r>
            <a:r>
              <a:rPr lang="en-US" sz="1600" b="1" dirty="0"/>
              <a:t>secular determinant </a:t>
            </a:r>
            <a:r>
              <a:rPr lang="en-US" sz="1600" dirty="0"/>
              <a:t>that accounts for interaction integrals (H’s) and overlap integrals (S’s, if used) between each of the atomic orbital Bloch functions. For example 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6438693" y="2514523"/>
            <a:ext cx="2698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Bloch function for atomic orbitals </a:t>
            </a:r>
            <a:r>
              <a:rPr lang="en-US" sz="1400" i="1" dirty="0" err="1"/>
              <a:t>ɸ</a:t>
            </a:r>
            <a:r>
              <a:rPr lang="en-US" sz="1400" i="1" baseline="-25000" dirty="0" err="1"/>
              <a:t>A</a:t>
            </a:r>
            <a:r>
              <a:rPr lang="en-US" sz="1400" dirty="0"/>
              <a:t> located at </a:t>
            </a:r>
            <a:r>
              <a:rPr lang="en-US" sz="1400" b="1" dirty="0"/>
              <a:t>R</a:t>
            </a:r>
            <a:r>
              <a:rPr lang="en-US" sz="1400" i="1" baseline="-25000" dirty="0"/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693" y="3329540"/>
            <a:ext cx="2698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Bloch function for atomic orbitals </a:t>
            </a:r>
            <a:r>
              <a:rPr lang="en-US" sz="1400" i="1" dirty="0" err="1"/>
              <a:t>ɸ</a:t>
            </a:r>
            <a:r>
              <a:rPr lang="en-US" sz="1400" i="1" baseline="-25000" dirty="0" err="1"/>
              <a:t>B</a:t>
            </a:r>
            <a:r>
              <a:rPr lang="en-US" sz="1400" dirty="0"/>
              <a:t> located at </a:t>
            </a:r>
            <a:r>
              <a:rPr lang="en-US" sz="1400" b="1" dirty="0"/>
              <a:t>R</a:t>
            </a:r>
            <a:r>
              <a:rPr lang="en-US" sz="1400" i="1" baseline="-25000" dirty="0"/>
              <a:t>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D1130B-B693-4C5D-B38A-3D8B8AAA3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668" y="1856077"/>
            <a:ext cx="3689714" cy="6334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20F01A-E2AF-481F-88CE-7E9C1E6B4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307" y="2489540"/>
            <a:ext cx="3635857" cy="1404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38FC1D-BC49-4A15-ADE8-78EAD4B3B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390" y="5083669"/>
            <a:ext cx="4003303" cy="78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529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We simplify the secular determinant by neglecting overlap, and noting </a:t>
            </a:r>
            <a:r>
              <a:rPr lang="en-US" sz="1600" i="1" dirty="0"/>
              <a:t>H</a:t>
            </a:r>
            <a:r>
              <a:rPr lang="en-US" sz="1600" baseline="-25000" dirty="0"/>
              <a:t>AA</a:t>
            </a:r>
            <a:r>
              <a:rPr lang="en-US" sz="1600" dirty="0"/>
              <a:t> = </a:t>
            </a:r>
            <a:r>
              <a:rPr lang="en-US" sz="1600" i="1" dirty="0"/>
              <a:t>H</a:t>
            </a:r>
            <a:r>
              <a:rPr lang="en-US" sz="1600" baseline="-25000" dirty="0"/>
              <a:t>BB </a:t>
            </a:r>
            <a:r>
              <a:rPr lang="en-US" sz="1600" dirty="0"/>
              <a:t>for the two equivalent carbon sites in graphene:</a:t>
            </a:r>
          </a:p>
        </p:txBody>
      </p:sp>
      <p:pic>
        <p:nvPicPr>
          <p:cNvPr id="34" name="Picture 33" descr="A screenshot of a cell phone&#10;&#10;Description automatically generated">
            <a:extLst>
              <a:ext uri="{FF2B5EF4-FFF2-40B4-BE49-F238E27FC236}">
                <a16:creationId xmlns:a16="http://schemas.microsoft.com/office/drawing/2014/main" id="{EB734044-690B-430C-8EDE-AEE37DB8BC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8" r="48761"/>
          <a:stretch/>
        </p:blipFill>
        <p:spPr>
          <a:xfrm>
            <a:off x="304801" y="2791987"/>
            <a:ext cx="3147068" cy="33098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Tight-binding model for graphene: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55742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939786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8665" y="3279405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8665" y="4364659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8665" y="5449913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5625" y="3843797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5625" y="4927841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814" y="3279405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814" y="4364659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63601" y="3834892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63601" y="4918936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1859" y="4364659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1859" y="5449913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11859" y="3279405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814" y="5449913"/>
            <a:ext cx="320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03420" y="5225949"/>
            <a:ext cx="39952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Here, the atomic wavefunction is the same for each carbon atom, but </a:t>
            </a:r>
            <a:r>
              <a:rPr lang="en-US" sz="1400" b="1" dirty="0"/>
              <a:t>R</a:t>
            </a:r>
            <a:r>
              <a:rPr lang="en-US" sz="1400" baseline="-25000" dirty="0"/>
              <a:t>A</a:t>
            </a:r>
            <a:r>
              <a:rPr lang="en-US" sz="1400" dirty="0"/>
              <a:t> and </a:t>
            </a:r>
            <a:r>
              <a:rPr lang="en-US" sz="1400" b="1" dirty="0"/>
              <a:t>R</a:t>
            </a:r>
            <a:r>
              <a:rPr lang="en-US" sz="1400" baseline="-25000" dirty="0"/>
              <a:t>B</a:t>
            </a:r>
            <a:r>
              <a:rPr lang="en-US" sz="1400" dirty="0"/>
              <a:t> describe two different Bravais lattices centered on the two different basis sites in the unit cell.</a:t>
            </a:r>
            <a:endParaRPr lang="en-US" sz="1400" i="1" baseline="-25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44F460E-AB57-407B-A848-35EBD39B5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75" y="1956541"/>
            <a:ext cx="3445232" cy="67743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9BDAA33-CFCD-49DC-82C7-E1ECEBD95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256" y="2880475"/>
            <a:ext cx="4071717" cy="944675"/>
          </a:xfrm>
          <a:prstGeom prst="rect">
            <a:avLst/>
          </a:prstGeom>
        </p:spPr>
      </p:pic>
      <p:sp>
        <p:nvSpPr>
          <p:cNvPr id="38" name="Right Arrow 34">
            <a:extLst>
              <a:ext uri="{FF2B5EF4-FFF2-40B4-BE49-F238E27FC236}">
                <a16:creationId xmlns:a16="http://schemas.microsoft.com/office/drawing/2014/main" id="{C124DAE1-FEDA-44C6-9FAD-F3C5B757CA09}"/>
              </a:ext>
            </a:extLst>
          </p:cNvPr>
          <p:cNvSpPr/>
          <p:nvPr/>
        </p:nvSpPr>
        <p:spPr>
          <a:xfrm rot="5400000">
            <a:off x="5884390" y="3955548"/>
            <a:ext cx="333375" cy="266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74FAAC6-00FF-4C4A-9B79-C1A337636D0C}"/>
                  </a:ext>
                </a:extLst>
              </p:cNvPr>
              <p:cNvSpPr txBox="1"/>
              <p:nvPr/>
            </p:nvSpPr>
            <p:spPr>
              <a:xfrm>
                <a:off x="4392798" y="4391111"/>
                <a:ext cx="18328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74FAAC6-00FF-4C4A-9B79-C1A337636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2798" y="4391111"/>
                <a:ext cx="1832809" cy="307777"/>
              </a:xfrm>
              <a:prstGeom prst="rect">
                <a:avLst/>
              </a:prstGeom>
              <a:blipFill>
                <a:blip r:embed="rId5"/>
                <a:stretch>
                  <a:fillRect l="-2667" r="-4333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B20B3EA-40F6-4348-AFA2-1C0268AF0E6C}"/>
                  </a:ext>
                </a:extLst>
              </p:cNvPr>
              <p:cNvSpPr txBox="1"/>
              <p:nvPr/>
            </p:nvSpPr>
            <p:spPr>
              <a:xfrm>
                <a:off x="6244080" y="4821725"/>
                <a:ext cx="2515496" cy="1986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√(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)=√(</m:t>
                      </m:r>
                      <m:sSubSup>
                        <m:sSub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B20B3EA-40F6-4348-AFA2-1C0268AF0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080" y="4821725"/>
                <a:ext cx="2515496" cy="198644"/>
              </a:xfrm>
              <a:prstGeom prst="rect">
                <a:avLst/>
              </a:prstGeom>
              <a:blipFill>
                <a:blip r:embed="rId6"/>
                <a:stretch>
                  <a:fillRect t="-9091" r="-1695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ounded Rectangle 8">
            <a:extLst>
              <a:ext uri="{FF2B5EF4-FFF2-40B4-BE49-F238E27FC236}">
                <a16:creationId xmlns:a16="http://schemas.microsoft.com/office/drawing/2014/main" id="{CDD9608F-B3DD-433E-8C00-1FE454F79841}"/>
              </a:ext>
            </a:extLst>
          </p:cNvPr>
          <p:cNvSpPr/>
          <p:nvPr/>
        </p:nvSpPr>
        <p:spPr>
          <a:xfrm>
            <a:off x="6184428" y="4815885"/>
            <a:ext cx="2575148" cy="257186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9FE47F7-35BA-4660-9B43-9C7427B864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0301" y="1865787"/>
            <a:ext cx="2921755" cy="783813"/>
          </a:xfrm>
          <a:prstGeom prst="rect">
            <a:avLst/>
          </a:prstGeom>
        </p:spPr>
      </p:pic>
      <p:sp>
        <p:nvSpPr>
          <p:cNvPr id="43" name="Right Arrow 34">
            <a:extLst>
              <a:ext uri="{FF2B5EF4-FFF2-40B4-BE49-F238E27FC236}">
                <a16:creationId xmlns:a16="http://schemas.microsoft.com/office/drawing/2014/main" id="{E6E643EE-8583-4A37-BD91-95EE661651A1}"/>
              </a:ext>
            </a:extLst>
          </p:cNvPr>
          <p:cNvSpPr/>
          <p:nvPr/>
        </p:nvSpPr>
        <p:spPr>
          <a:xfrm rot="5400000">
            <a:off x="5874494" y="2679363"/>
            <a:ext cx="333375" cy="266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Arrow 34">
            <a:extLst>
              <a:ext uri="{FF2B5EF4-FFF2-40B4-BE49-F238E27FC236}">
                <a16:creationId xmlns:a16="http://schemas.microsoft.com/office/drawing/2014/main" id="{4B4CEF17-37D9-4583-A542-D5B96AD4D407}"/>
              </a:ext>
            </a:extLst>
          </p:cNvPr>
          <p:cNvSpPr/>
          <p:nvPr/>
        </p:nvSpPr>
        <p:spPr>
          <a:xfrm>
            <a:off x="4060326" y="2176360"/>
            <a:ext cx="333375" cy="2667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47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Tight-binding model for graphene: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1" y="1409701"/>
            <a:ext cx="8458199" cy="781050"/>
          </a:xfrm>
        </p:spPr>
        <p:txBody>
          <a:bodyPr/>
          <a:lstStyle/>
          <a:p>
            <a:r>
              <a:rPr lang="en-US" sz="1600" i="1" dirty="0"/>
              <a:t>H</a:t>
            </a:r>
            <a:r>
              <a:rPr lang="en-US" sz="1600" baseline="-25000" dirty="0"/>
              <a:t>11</a:t>
            </a:r>
            <a:r>
              <a:rPr lang="en-US" sz="1600" dirty="0"/>
              <a:t>: </a:t>
            </a:r>
          </a:p>
          <a:p>
            <a:r>
              <a:rPr lang="en-US" sz="1600" dirty="0"/>
              <a:t>Interaction integral for members of the </a:t>
            </a:r>
            <a:r>
              <a:rPr lang="en-US" sz="1600" b="1" dirty="0"/>
              <a:t>same</a:t>
            </a:r>
            <a:r>
              <a:rPr lang="en-US" sz="1600" dirty="0"/>
              <a:t> </a:t>
            </a:r>
            <a:r>
              <a:rPr lang="en-US" sz="1600" dirty="0" err="1"/>
              <a:t>Bravais</a:t>
            </a:r>
            <a:r>
              <a:rPr lang="en-US" sz="1600" dirty="0"/>
              <a:t> lattice (or “</a:t>
            </a:r>
            <a:r>
              <a:rPr lang="en-US" sz="1600" dirty="0" err="1"/>
              <a:t>sublattice</a:t>
            </a:r>
            <a:r>
              <a:rPr lang="en-US" sz="1600" dirty="0"/>
              <a:t>”, i.e. A-A or B-B)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2714"/>
            <a:ext cx="4189103" cy="29275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F228E9-B611-41D4-BEE7-E57B9D1EC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351454"/>
            <a:ext cx="4024712" cy="631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419FC1-6C0A-4852-9B4B-B852DB2B8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089" y="3274143"/>
            <a:ext cx="2682607" cy="14208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A744D8-EE17-45D6-9947-50E6CB0CDA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6218" y="4721343"/>
            <a:ext cx="5646782" cy="8588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F4945B-66AD-4777-AF9B-B7447AA26171}"/>
              </a:ext>
            </a:extLst>
          </p:cNvPr>
          <p:cNvSpPr txBox="1"/>
          <p:nvPr/>
        </p:nvSpPr>
        <p:spPr>
          <a:xfrm>
            <a:off x="1249608" y="5317494"/>
            <a:ext cx="16898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a</a:t>
            </a:r>
            <a:r>
              <a:rPr lang="en-US" sz="1100" dirty="0"/>
              <a:t> should be bond length</a:t>
            </a:r>
          </a:p>
        </p:txBody>
      </p:sp>
    </p:spTree>
    <p:extLst>
      <p:ext uri="{BB962C8B-B14F-4D97-AF65-F5344CB8AC3E}">
        <p14:creationId xmlns:p14="http://schemas.microsoft.com/office/powerpoint/2010/main" val="2749471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Tight-binding model for graphene: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1" y="1409701"/>
            <a:ext cx="8458199" cy="781050"/>
          </a:xfrm>
        </p:spPr>
        <p:txBody>
          <a:bodyPr/>
          <a:lstStyle/>
          <a:p>
            <a:r>
              <a:rPr lang="en-US" sz="1600" i="1" dirty="0"/>
              <a:t>H</a:t>
            </a:r>
            <a:r>
              <a:rPr lang="en-US" sz="1600" baseline="-25000" dirty="0"/>
              <a:t>12</a:t>
            </a:r>
            <a:r>
              <a:rPr lang="en-US" sz="1600" dirty="0"/>
              <a:t>: </a:t>
            </a:r>
          </a:p>
          <a:p>
            <a:r>
              <a:rPr lang="en-US" sz="1600" dirty="0"/>
              <a:t>Interaction integral for members of the </a:t>
            </a:r>
            <a:r>
              <a:rPr lang="en-US" sz="1600" b="1" dirty="0"/>
              <a:t>different </a:t>
            </a:r>
            <a:r>
              <a:rPr lang="en-US" sz="1600" dirty="0" err="1"/>
              <a:t>Bravais</a:t>
            </a:r>
            <a:r>
              <a:rPr lang="en-US" sz="1600" dirty="0"/>
              <a:t> lattices (or “</a:t>
            </a:r>
            <a:r>
              <a:rPr lang="en-US" sz="1600" dirty="0" err="1"/>
              <a:t>sublattice</a:t>
            </a:r>
            <a:r>
              <a:rPr lang="en-US" sz="1600" dirty="0"/>
              <a:t>”, i.e. A-B):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2714"/>
            <a:ext cx="4189103" cy="29275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1E7D68-4F86-4F0B-AD28-6E478B5BC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675" y="3078840"/>
            <a:ext cx="3124590" cy="17127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033C78-240C-4604-9DCA-217E2D03B1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0821" b="54045"/>
          <a:stretch/>
        </p:blipFill>
        <p:spPr>
          <a:xfrm>
            <a:off x="2762865" y="4765288"/>
            <a:ext cx="5812105" cy="6269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D8CBC0-5FA4-458E-86D1-591701B879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4349"/>
          <a:stretch/>
        </p:blipFill>
        <p:spPr>
          <a:xfrm>
            <a:off x="1158816" y="5448299"/>
            <a:ext cx="7484978" cy="7742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3B5D8D-8640-45A4-BFB1-92D19F250B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289469"/>
            <a:ext cx="4140158" cy="6321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81570AC-1E26-4647-BE12-8D3814FF4888}"/>
              </a:ext>
            </a:extLst>
          </p:cNvPr>
          <p:cNvSpPr txBox="1"/>
          <p:nvPr/>
        </p:nvSpPr>
        <p:spPr>
          <a:xfrm>
            <a:off x="1249608" y="5317494"/>
            <a:ext cx="16898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a</a:t>
            </a:r>
            <a:r>
              <a:rPr lang="en-US" sz="1100" dirty="0"/>
              <a:t> should be bond length</a:t>
            </a:r>
          </a:p>
        </p:txBody>
      </p:sp>
    </p:spTree>
    <p:extLst>
      <p:ext uri="{BB962C8B-B14F-4D97-AF65-F5344CB8AC3E}">
        <p14:creationId xmlns:p14="http://schemas.microsoft.com/office/powerpoint/2010/main" val="1902381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Tight-binding model for graphene: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1" y="1409701"/>
            <a:ext cx="8458199" cy="781050"/>
          </a:xfrm>
        </p:spPr>
        <p:txBody>
          <a:bodyPr/>
          <a:lstStyle/>
          <a:p>
            <a:r>
              <a:rPr lang="en-US" sz="1600" dirty="0"/>
              <a:t>Putting it together: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048000" y="1409701"/>
                <a:ext cx="18328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409701"/>
                <a:ext cx="1832809" cy="307777"/>
              </a:xfrm>
              <a:prstGeom prst="rect">
                <a:avLst/>
              </a:prstGeom>
              <a:blipFill rotWithShape="0">
                <a:blip r:embed="rId2"/>
                <a:stretch>
                  <a:fillRect l="-2326" r="-3987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228958" y="6019800"/>
            <a:ext cx="2297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With </a:t>
            </a:r>
            <a:r>
              <a:rPr lang="en-US" sz="1200" i="1" dirty="0"/>
              <a:t>a</a:t>
            </a:r>
            <a:r>
              <a:rPr lang="en-US" sz="1200" dirty="0"/>
              <a:t> the bond length = 1.42Å</a:t>
            </a: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C69C28AB-9257-4AAE-AC0D-4B2F928D0E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77"/>
          <a:stretch/>
        </p:blipFill>
        <p:spPr>
          <a:xfrm>
            <a:off x="4758813" y="2322315"/>
            <a:ext cx="3679225" cy="3633305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9AB18793-A1E4-4A9D-A55B-E37BDD08E4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082"/>
          <a:stretch/>
        </p:blipFill>
        <p:spPr>
          <a:xfrm>
            <a:off x="232089" y="2484001"/>
            <a:ext cx="3831911" cy="326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2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Tight-binding model for graphene: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1" y="1409701"/>
            <a:ext cx="8458199" cy="781050"/>
          </a:xfrm>
        </p:spPr>
        <p:txBody>
          <a:bodyPr/>
          <a:lstStyle/>
          <a:p>
            <a:r>
              <a:rPr lang="en-US" sz="1600" dirty="0"/>
              <a:t>Putting it together: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048000" y="1409701"/>
                <a:ext cx="18328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409701"/>
                <a:ext cx="1832809" cy="307777"/>
              </a:xfrm>
              <a:prstGeom prst="rect">
                <a:avLst/>
              </a:prstGeom>
              <a:blipFill rotWithShape="0">
                <a:blip r:embed="rId2"/>
                <a:stretch>
                  <a:fillRect l="-2326" r="-3987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72465720-AAFF-4222-B019-B234046532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9" y="2484001"/>
            <a:ext cx="8530912" cy="326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605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Tight-binding model for graphene: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1" y="1409701"/>
            <a:ext cx="8458199" cy="781050"/>
          </a:xfrm>
        </p:spPr>
        <p:txBody>
          <a:bodyPr/>
          <a:lstStyle/>
          <a:p>
            <a:r>
              <a:rPr lang="en-US" sz="1600" dirty="0"/>
              <a:t>Putting it together: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048000" y="1409701"/>
                <a:ext cx="18328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409701"/>
                <a:ext cx="1832809" cy="307777"/>
              </a:xfrm>
              <a:prstGeom prst="rect">
                <a:avLst/>
              </a:prstGeom>
              <a:blipFill rotWithShape="0">
                <a:blip r:embed="rId2"/>
                <a:stretch>
                  <a:fillRect l="-2326" r="-3987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361216" y="2641700"/>
                <a:ext cx="1075423" cy="341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/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1216" y="2641700"/>
                <a:ext cx="1075423" cy="341055"/>
              </a:xfrm>
              <a:prstGeom prst="rect">
                <a:avLst/>
              </a:prstGeom>
              <a:blipFill>
                <a:blip r:embed="rId3"/>
                <a:stretch>
                  <a:fillRect l="-3955" r="-4520" b="-2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04796" y="2641699"/>
                <a:ext cx="98937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96" y="2641699"/>
                <a:ext cx="989373" cy="307777"/>
              </a:xfrm>
              <a:prstGeom prst="rect">
                <a:avLst/>
              </a:prstGeom>
              <a:blipFill>
                <a:blip r:embed="rId4"/>
                <a:stretch>
                  <a:fillRect l="-4908" r="-4908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1" y="3042325"/>
            <a:ext cx="3333750" cy="25003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3042325"/>
            <a:ext cx="3333750" cy="250031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8054" y="3042324"/>
            <a:ext cx="3333750" cy="25003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07567" y="2641699"/>
            <a:ext cx="1297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combined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758054" y="2982755"/>
            <a:ext cx="3474096" cy="2808089"/>
            <a:chOff x="6137236" y="3362822"/>
            <a:chExt cx="3474096" cy="2808089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37236" y="3362822"/>
              <a:ext cx="3474096" cy="2605572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6381750" y="5863134"/>
              <a:ext cx="19062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Add overlap </a:t>
              </a:r>
              <a:r>
                <a:rPr lang="en-US" sz="1400" i="1" dirty="0"/>
                <a:t>S</a:t>
              </a:r>
              <a:r>
                <a:rPr lang="en-US" sz="1400" baseline="-25000" dirty="0"/>
                <a:t>12</a:t>
              </a:r>
              <a:r>
                <a:rPr lang="en-US" sz="1400" dirty="0"/>
                <a:t>= -0.1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435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228600"/>
            <a:ext cx="7555148" cy="576263"/>
          </a:xfrm>
        </p:spPr>
        <p:txBody>
          <a:bodyPr/>
          <a:lstStyle/>
          <a:p>
            <a:r>
              <a:rPr lang="en-US" dirty="0"/>
              <a:t>ARPES: Angle-resolved photoemission spec.</a:t>
            </a:r>
          </a:p>
        </p:txBody>
      </p:sp>
      <p:pic>
        <p:nvPicPr>
          <p:cNvPr id="17" name="Content Placeholder 1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331" y="1859259"/>
            <a:ext cx="8230201" cy="43746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4825" y="1352145"/>
            <a:ext cx="7021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Cu(111) surface state (hexagonal lattice, 1 electron per site):</a:t>
            </a:r>
          </a:p>
        </p:txBody>
      </p:sp>
    </p:spTree>
    <p:extLst>
      <p:ext uri="{BB962C8B-B14F-4D97-AF65-F5344CB8AC3E}">
        <p14:creationId xmlns:p14="http://schemas.microsoft.com/office/powerpoint/2010/main" val="360455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228600"/>
            <a:ext cx="7555148" cy="576263"/>
          </a:xfrm>
        </p:spPr>
        <p:txBody>
          <a:bodyPr/>
          <a:lstStyle/>
          <a:p>
            <a:r>
              <a:rPr lang="en-US" dirty="0"/>
              <a:t>ARPES: Angle-resolved photoemission spec.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0441" y="1371599"/>
            <a:ext cx="8115729" cy="4837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801" y="1284051"/>
            <a:ext cx="487678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Tri-layer epitaxial graphene, near </a:t>
            </a:r>
            <a:r>
              <a:rPr lang="en-US" i="1" dirty="0"/>
              <a:t>K</a:t>
            </a:r>
            <a:r>
              <a:rPr lang="en-US" dirty="0"/>
              <a:t> point: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50549"/>
          <a:stretch/>
        </p:blipFill>
        <p:spPr>
          <a:xfrm>
            <a:off x="215225" y="1844179"/>
            <a:ext cx="1952016" cy="18077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49533"/>
          <a:stretch/>
        </p:blipFill>
        <p:spPr>
          <a:xfrm>
            <a:off x="145915" y="3651946"/>
            <a:ext cx="1992142" cy="180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537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confinement: Carbon nanotubes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75" y="1828508"/>
            <a:ext cx="3943217" cy="39419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688" y="1454541"/>
            <a:ext cx="3921600" cy="468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740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close up of a logo&#10;&#10;Description automatically generated">
            <a:extLst>
              <a:ext uri="{FF2B5EF4-FFF2-40B4-BE49-F238E27FC236}">
                <a16:creationId xmlns:a16="http://schemas.microsoft.com/office/drawing/2014/main" id="{A8F35361-0746-450C-8815-906D21D4C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3048000"/>
            <a:ext cx="8726065" cy="31877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334168"/>
            <a:ext cx="7120128" cy="576263"/>
          </a:xfrm>
        </p:spPr>
        <p:txBody>
          <a:bodyPr/>
          <a:lstStyle/>
          <a:p>
            <a:r>
              <a:rPr lang="en-US" sz="2400" dirty="0"/>
              <a:t>Quantum confinement: Carbon nanotubes: wavefunction must be periodic with roll-up vector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31ADA2D7-33D9-46E2-8502-73E9A67B7CE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8" r="48761"/>
          <a:stretch/>
        </p:blipFill>
        <p:spPr>
          <a:xfrm>
            <a:off x="304801" y="1285108"/>
            <a:ext cx="2038451" cy="214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689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confinement: Carbon nanotubes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1" y="1284051"/>
            <a:ext cx="602761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Bands within </a:t>
            </a:r>
            <a:r>
              <a:rPr lang="en-US" sz="1600" dirty="0" err="1"/>
              <a:t>Brilloiun</a:t>
            </a:r>
            <a:r>
              <a:rPr lang="en-US" sz="1600" dirty="0"/>
              <a:t> zone (depicting unique states) highlighted: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1" y="5715145"/>
            <a:ext cx="842721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… would be better to plot sub-bands within BZ for 1D unit cell defined by translation vector along tube axis.</a:t>
            </a:r>
          </a:p>
        </p:txBody>
      </p:sp>
      <p:pic>
        <p:nvPicPr>
          <p:cNvPr id="9" name="Content Placeholder 8" descr="A picture containing text, map, drawing&#10;&#10;Description automatically generated">
            <a:extLst>
              <a:ext uri="{FF2B5EF4-FFF2-40B4-BE49-F238E27FC236}">
                <a16:creationId xmlns:a16="http://schemas.microsoft.com/office/drawing/2014/main" id="{C98BF315-0F34-4E03-A06D-B2BB93D121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2101793"/>
            <a:ext cx="8573784" cy="3297609"/>
          </a:xfrm>
        </p:spPr>
      </p:pic>
    </p:spTree>
    <p:extLst>
      <p:ext uri="{BB962C8B-B14F-4D97-AF65-F5344CB8AC3E}">
        <p14:creationId xmlns:p14="http://schemas.microsoft.com/office/powerpoint/2010/main" val="244781608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ndrew USC colors">
      <a:dk1>
        <a:srgbClr val="000000"/>
      </a:dk1>
      <a:lt1>
        <a:srgbClr val="FFFFFF"/>
      </a:lt1>
      <a:dk2>
        <a:srgbClr val="000000"/>
      </a:dk2>
      <a:lt2>
        <a:srgbClr val="A1A1A1"/>
      </a:lt2>
      <a:accent1>
        <a:srgbClr val="98002E"/>
      </a:accent1>
      <a:accent2>
        <a:srgbClr val="DC0000"/>
      </a:accent2>
      <a:accent3>
        <a:srgbClr val="FF0000"/>
      </a:accent3>
      <a:accent4>
        <a:srgbClr val="3333CC"/>
      </a:accent4>
      <a:accent5>
        <a:srgbClr val="009900"/>
      </a:accent5>
      <a:accent6>
        <a:srgbClr val="19FF19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4992</TotalTime>
  <Words>858</Words>
  <Application>Microsoft Office PowerPoint</Application>
  <PresentationFormat>On-screen Show (4:3)</PresentationFormat>
  <Paragraphs>135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Cambria Math</vt:lpstr>
      <vt:lpstr>Default Design</vt:lpstr>
      <vt:lpstr>Electronic structure of graphene </vt:lpstr>
      <vt:lpstr>Electronic structure of graphene  and carbon nanotubes</vt:lpstr>
      <vt:lpstr>The secular determinant: Estimating molecular orbital energies in LCAO approach</vt:lpstr>
      <vt:lpstr>The secular determinant: Estimating molecular orbital energies in LCAO approach</vt:lpstr>
      <vt:lpstr>Secular determinant: H2 (or ethylene)</vt:lpstr>
      <vt:lpstr>The secular determinant in a periodic lattice:</vt:lpstr>
      <vt:lpstr>Tight-binding model for graphene:</vt:lpstr>
      <vt:lpstr>Tight-binding model for graphene:</vt:lpstr>
      <vt:lpstr>Tight-binding model for graphene:</vt:lpstr>
      <vt:lpstr>Tight-binding model for graphene:</vt:lpstr>
      <vt:lpstr>Tight-binding model for graphene:</vt:lpstr>
      <vt:lpstr>Tight-binding model for graphene:</vt:lpstr>
      <vt:lpstr>ARPES: Angle-resolved photoemission spec.</vt:lpstr>
      <vt:lpstr>ARPES: Angle-resolved photoemission spec.</vt:lpstr>
      <vt:lpstr>Quantum confinement: Carbon nanotubes</vt:lpstr>
      <vt:lpstr>Quantum confinement: Carbon nanotubes: wavefunction must be periodic with roll-up vector</vt:lpstr>
      <vt:lpstr>Quantum confinement: Carbon nanotubes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Core-Shell Approach to Complimentary Doping of Semiconductor Nanowires</dc:title>
  <dc:creator>Andrew Greytak</dc:creator>
  <cp:lastModifiedBy>GREYTAK, ANDREW</cp:lastModifiedBy>
  <cp:revision>157</cp:revision>
  <dcterms:created xsi:type="dcterms:W3CDTF">2004-03-09T02:06:31Z</dcterms:created>
  <dcterms:modified xsi:type="dcterms:W3CDTF">2020-02-13T19:15:30Z</dcterms:modified>
</cp:coreProperties>
</file>